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828800" cy="3931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7739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DAA • PROJECT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863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SMART AMBULANCE
DISPATCH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7132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CCD8E8"/>
                </a:solidFill>
                <a:latin typeface="Aptos"/>
              </a:rPr>
              <a:t>An algorithm-centric emergency dispatch engine using
Priority Queue + Dijkstra + Greedy allocation.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6858000" cy="1051560"/>
          </a:xfrm>
          <a:prstGeom prst="roundRect">
            <a:avLst/>
          </a:prstGeom>
          <a:solidFill>
            <a:srgbClr val="1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41655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AEBA"/>
                </a:solidFill>
                <a:latin typeface="Aptos"/>
              </a:rPr>
              <a:t>PROBLEM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54880"/>
            <a:ext cx="6263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Intelligent Transportation Systems (ITS)  •  Emergency Medical Services (EMS)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989320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D2"/>
                </a:solidFill>
                <a:latin typeface="Aptos"/>
              </a:rPr>
              <a:t>TEAM MEMBERS:  [Member 1]  |  [Member 2]  |  [Member 3]  |  [Member 4]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731520"/>
            <a:ext cx="219456" cy="219456"/>
          </a:xfrm>
          <a:prstGeom prst="ellipse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32720" y="1554480"/>
            <a:ext cx="219456" cy="219456"/>
          </a:xfrm>
          <a:prstGeom prst="ellipse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52560" y="2468880"/>
            <a:ext cx="219456" cy="219456"/>
          </a:xfrm>
          <a:prstGeom prst="ellipse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07040" y="3108960"/>
            <a:ext cx="219456" cy="219456"/>
          </a:xfrm>
          <a:prstGeom prst="ellipse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0" y="4297680"/>
            <a:ext cx="219456" cy="219456"/>
          </a:xfrm>
          <a:prstGeom prst="ellipse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0" y="5120640"/>
            <a:ext cx="219456" cy="219456"/>
          </a:xfrm>
          <a:prstGeom prst="ellipse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Why conventional ambulance dispatch can fail in dense urban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6576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737360"/>
            <a:ext cx="1783080" cy="3931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755648"/>
            <a:ext cx="17282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REAL-WORLD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01B2D"/>
                </a:solidFill>
                <a:latin typeface="Aptos"/>
              </a:rPr>
              <a:t>Distance alone is not enough.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632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F3E"/>
                </a:solidFill>
                <a:latin typeface="Aptos"/>
              </a:rPr>
              <a:t>A nearby ambulance may face severe congestion, lack required equipment, or be unavailable while another unit can reach the patient faster.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81328"/>
            <a:ext cx="6949440" cy="1298448"/>
          </a:xfrm>
          <a:prstGeom prst="roundRect">
            <a:avLst/>
          </a:prstGeom>
          <a:solidFill>
            <a:srgbClr val="F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6824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5414B"/>
                </a:solidFill>
                <a:latin typeface="Aptos"/>
              </a:rPr>
              <a:t>01  CALL SURGE FLOODING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057400"/>
            <a:ext cx="6126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2F3E"/>
                </a:solidFill>
                <a:latin typeface="Aptos"/>
              </a:rPr>
              <a:t>Non-critical calls can clog dispatch queues during peak demand.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971800"/>
            <a:ext cx="6949440" cy="1298448"/>
          </a:xfrm>
          <a:prstGeom prst="roundRect">
            <a:avLst/>
          </a:prstGeom>
          <a:solidFill>
            <a:srgbClr val="FD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317296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D8F31"/>
                </a:solidFill>
                <a:latin typeface="Aptos"/>
              </a:rPr>
              <a:t>02  STATIC DISTANCE FALLACY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47872"/>
            <a:ext cx="6126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2F3E"/>
                </a:solidFill>
                <a:latin typeface="Aptos"/>
              </a:rPr>
              <a:t>A closer ambulance can be trapped in traffic while a farther unit has a clear route.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462272"/>
            <a:ext cx="6949440" cy="1298448"/>
          </a:xfrm>
          <a:prstGeom prst="roundRect">
            <a:avLst/>
          </a:prstGeom>
          <a:solidFill>
            <a:srgbClr val="E7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4663440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56FBE"/>
                </a:solidFill>
                <a:latin typeface="Aptos"/>
              </a:rPr>
              <a:t>03  CAPABILITY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038344"/>
            <a:ext cx="6126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2F3E"/>
                </a:solidFill>
                <a:latin typeface="Aptos"/>
              </a:rPr>
              <a:t>A BLS unit should not be selected when an emergency requires ALS/ICU-level equipment.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0936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01B2D"/>
                </a:solidFill>
                <a:latin typeface="Aptos"/>
              </a:rPr>
              <a:t>Goal → select the right ambulance AND the right route for the emergency.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A transparent “glass-box” dispatch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783080" cy="10789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EMERGENCY
REQUEST</a:t>
            </a:r>
          </a:p>
        </p:txBody>
      </p:sp>
      <p:sp>
        <p:nvSpPr>
          <p:cNvPr id="9" name="Chevron 8"/>
          <p:cNvSpPr/>
          <p:nvPr/>
        </p:nvSpPr>
        <p:spPr>
          <a:xfrm>
            <a:off x="2359152" y="2313432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52928" y="1965960"/>
            <a:ext cx="1783080" cy="10789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DYNAMIC
TRIAGE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709160" y="2313432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02936" y="1965960"/>
            <a:ext cx="1783080" cy="10789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799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TRAFFIC-
WEIGHTED ROUTE</a:t>
            </a:r>
          </a:p>
        </p:txBody>
      </p:sp>
      <p:sp>
        <p:nvSpPr>
          <p:cNvPr id="15" name="Chevron 14"/>
          <p:cNvSpPr/>
          <p:nvPr/>
        </p:nvSpPr>
        <p:spPr>
          <a:xfrm>
            <a:off x="7059167" y="2313432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52944" y="1965960"/>
            <a:ext cx="1783080" cy="1078992"/>
          </a:xfrm>
          <a:prstGeom prst="roundRect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7808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CAPABILITY-
AWARE PICK</a:t>
            </a:r>
          </a:p>
        </p:txBody>
      </p:sp>
      <p:sp>
        <p:nvSpPr>
          <p:cNvPr id="18" name="Chevron 17"/>
          <p:cNvSpPr/>
          <p:nvPr/>
        </p:nvSpPr>
        <p:spPr>
          <a:xfrm>
            <a:off x="9409176" y="2313432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902952" y="1965960"/>
            <a:ext cx="1783080" cy="1078992"/>
          </a:xfrm>
          <a:prstGeom prst="roundRect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57816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DISPATCH
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3456432" cy="1481328"/>
          </a:xfrm>
          <a:prstGeom prst="roundRect">
            <a:avLst/>
          </a:prstGeom>
          <a:solidFill>
            <a:srgbClr val="F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087368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C53B0"/>
                </a:solidFill>
                <a:latin typeface="Aptos"/>
              </a:rPr>
              <a:t>Dynamic Time-Decay Min-Heap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53712"/>
            <a:ext cx="2999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62F3E"/>
                </a:solidFill>
                <a:latin typeface="Aptos"/>
              </a:rPr>
              <a:t>Keeps urgent requests visible while reducing starvation.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3886200"/>
            <a:ext cx="3456432" cy="1481328"/>
          </a:xfrm>
          <a:prstGeom prst="roundRect">
            <a:avLst/>
          </a:prstGeom>
          <a:solidFill>
            <a:srgbClr val="E7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4087368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56FBE"/>
                </a:solidFill>
                <a:latin typeface="Aptos"/>
              </a:rPr>
              <a:t>Directed Traffic-Weighted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553712"/>
            <a:ext cx="2999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62F3E"/>
                </a:solidFill>
                <a:latin typeface="Aptos"/>
              </a:rPr>
              <a:t>Edge costs adapt to congestion factors from 1.0× to 2.5×.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3" y="3886200"/>
            <a:ext cx="3456432" cy="148132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67343" y="4087368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09D67"/>
                </a:solidFill>
                <a:latin typeface="Aptos"/>
              </a:rPr>
              <a:t>Multi-Criteria Greedy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3" y="4553712"/>
            <a:ext cx="2999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62F3E"/>
                </a:solidFill>
                <a:latin typeface="Aptos"/>
              </a:rPr>
              <a:t>Balances travel time with equipment compatibility.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9788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1B2D"/>
                </a:solidFill>
                <a:latin typeface="Aptos"/>
              </a:rPr>
              <a:t>Key differentiator: expose algorithm state changes instead of returning only a final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Input → Triage → Routing → Allocation → Explainable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6072" y="1737360"/>
            <a:ext cx="1728216" cy="3931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 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Patient node
Severity 1–10
Required equipment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2523744" y="2331720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61488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26080" y="1737360"/>
            <a:ext cx="1728216" cy="3931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3512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 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Min-Heap
Priority Key</a:t>
            </a:r>
          </a:p>
        </p:txBody>
      </p:sp>
      <p:sp>
        <p:nvSpPr>
          <p:cNvPr id="16" name="Chevron 15"/>
          <p:cNvSpPr/>
          <p:nvPr/>
        </p:nvSpPr>
        <p:spPr>
          <a:xfrm>
            <a:off x="4873752" y="2331720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11496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76088" y="1737360"/>
            <a:ext cx="1728216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0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 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Dijkstra
Traffic-weighted</a:t>
            </a:r>
          </a:p>
        </p:txBody>
      </p:sp>
      <p:sp>
        <p:nvSpPr>
          <p:cNvPr id="21" name="Chevron 20"/>
          <p:cNvSpPr/>
          <p:nvPr/>
        </p:nvSpPr>
        <p:spPr>
          <a:xfrm>
            <a:off x="7223760" y="2331720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61503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26095" y="1737360"/>
            <a:ext cx="1728216" cy="393192"/>
          </a:xfrm>
          <a:prstGeom prst="roundRect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53527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 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5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Greedy
Composite cost</a:t>
            </a:r>
          </a:p>
        </p:txBody>
      </p:sp>
      <p:sp>
        <p:nvSpPr>
          <p:cNvPr id="26" name="Chevron 25"/>
          <p:cNvSpPr/>
          <p:nvPr/>
        </p:nvSpPr>
        <p:spPr>
          <a:xfrm>
            <a:off x="9573767" y="2331720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11511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976103" y="1737360"/>
            <a:ext cx="1728216" cy="393192"/>
          </a:xfrm>
          <a:prstGeom prst="roundRect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03535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 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3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Ambulance + path
ETA + comparison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977639"/>
            <a:ext cx="5349240" cy="1298448"/>
          </a:xfrm>
          <a:prstGeom prst="roundRect">
            <a:avLst/>
          </a:prstGeom>
          <a:solidFill>
            <a:srgbClr val="F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187952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C53B0"/>
                </a:solidFill>
                <a:latin typeface="Aptos"/>
              </a:rPr>
              <a:t>PRIORITY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0288"/>
            <a:ext cx="4754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01B2D"/>
                </a:solidFill>
                <a:latin typeface="Aptos"/>
              </a:rPr>
              <a:t>(10 − Severity) − Wait Penalty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77639"/>
            <a:ext cx="5257800" cy="12984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187952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9D67"/>
                </a:solidFill>
                <a:latin typeface="Aptos"/>
              </a:rPr>
              <a:t>COMPOSITE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590288"/>
            <a:ext cx="4709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1B2D"/>
                </a:solidFill>
                <a:latin typeface="Aptos"/>
              </a:rPr>
              <a:t>Dijkstra Travel Time + Equipment Penalty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01B2D"/>
                </a:solidFill>
                <a:latin typeface="Aptos"/>
              </a:rPr>
              <a:t>Dispatcher view: ranked ambulances → route map → trade-off matrix → one-click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Technology &amp;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Implementation stack and why each algorithm fits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301752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1B2D"/>
                </a:solidFill>
                <a:latin typeface="Aptos"/>
              </a:rPr>
              <a:t>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31720"/>
            <a:ext cx="1325880" cy="393192"/>
          </a:xfrm>
          <a:prstGeom prst="roundRect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350008"/>
            <a:ext cx="12710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13432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2F3E"/>
                </a:solidFill>
                <a:latin typeface="Aptos"/>
              </a:rPr>
              <a:t>Interactive graph + decision inspector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3429000"/>
            <a:ext cx="1325880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447288"/>
            <a:ext cx="12710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Python +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10712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2F3E"/>
                </a:solidFill>
                <a:latin typeface="Aptos"/>
              </a:rPr>
              <a:t>Routing + dispatch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526279"/>
            <a:ext cx="1325880" cy="3931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4544567"/>
            <a:ext cx="12710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507992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2F3E"/>
                </a:solidFill>
                <a:latin typeface="Aptos"/>
              </a:rPr>
              <a:t>Nodes, edges, traffic &amp; fleet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1481328"/>
            <a:ext cx="76809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1737360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1B2D"/>
                </a:solidFill>
                <a:latin typeface="Aptos"/>
              </a:rPr>
              <a:t>ALGORITHMS &amp; JUSTIFICATION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304288"/>
            <a:ext cx="7132320" cy="8229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70832" y="239572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C53B0"/>
                </a:solidFill>
                <a:latin typeface="Aptos"/>
              </a:rPr>
              <a:t>MIN-HEAP / PRIORITY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9572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62F3E"/>
                </a:solidFill>
                <a:latin typeface="Aptos"/>
              </a:rPr>
              <a:t>Dynamic priority ordering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39572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B2D"/>
                </a:solidFill>
                <a:latin typeface="Aptos"/>
              </a:rPr>
              <a:t>O(log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50008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E"/>
                </a:solidFill>
                <a:latin typeface="Aptos"/>
              </a:rPr>
              <a:t>Urgency + wait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383280"/>
            <a:ext cx="7132320" cy="8229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0832" y="34747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6FBE"/>
                </a:solidFill>
                <a:latin typeface="Aptos"/>
              </a:rPr>
              <a:t>DIJKSTRA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74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62F3E"/>
                </a:solidFill>
                <a:latin typeface="Aptos"/>
              </a:rPr>
              <a:t>Exact shortest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474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B2D"/>
                </a:solidFill>
                <a:latin typeface="Aptos"/>
              </a:rPr>
              <a:t>O((V+E) log 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42900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E"/>
                </a:solidFill>
                <a:latin typeface="Aptos"/>
              </a:rPr>
              <a:t>Non-negative weights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4462272"/>
            <a:ext cx="7132320" cy="8229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70832" y="455371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9D67"/>
                </a:solidFill>
                <a:latin typeface="Aptos"/>
              </a:rPr>
              <a:t>GREEDY SELECTOR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55371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62F3E"/>
                </a:solidFill>
                <a:latin typeface="Aptos"/>
              </a:rPr>
              <a:t>Fast local allocation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55371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B2D"/>
                </a:solidFill>
                <a:latin typeface="Aptos"/>
              </a:rPr>
              <a:t>O(A · Dijkstra)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50799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E"/>
                </a:solidFill>
                <a:latin typeface="Aptos"/>
              </a:rPr>
              <a:t>Multi-variable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559552"/>
            <a:ext cx="6675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46E7E"/>
                </a:solidFill>
                <a:latin typeface="Aptos"/>
              </a:rPr>
              <a:t>Space: Min-Heap O(N) • Dijkstra O(V+E) • Greedy selector O(A)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Demo, Explainability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The prototype shows not only what was selected, but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6858000" cy="4526280"/>
          </a:xfrm>
          <a:prstGeom prst="round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6AEBA"/>
                </a:solidFill>
                <a:latin typeface="Aptos"/>
              </a:rPr>
              <a:t>LIVE DECISION INSPECTOR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1874519" cy="1417320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AABED7"/>
                </a:solidFill>
                <a:latin typeface="Aptos"/>
              </a:rPr>
              <a:t>MIN-HEAP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2670048"/>
            <a:ext cx="1536192" cy="3931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688336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Critical •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2926080"/>
            <a:ext cx="1536192" cy="393192"/>
          </a:xfrm>
          <a:prstGeom prst="roundRect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2944368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Trauma • 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3182112"/>
            <a:ext cx="1536192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00400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Routine •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26771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AABED7"/>
                </a:solidFill>
                <a:latin typeface="Aptos"/>
              </a:rPr>
              <a:t>DIJKSTRA ROUTE</a:t>
            </a:r>
          </a:p>
        </p:txBody>
      </p:sp>
      <p:sp>
        <p:nvSpPr>
          <p:cNvPr id="18" name="Oval 17"/>
          <p:cNvSpPr/>
          <p:nvPr/>
        </p:nvSpPr>
        <p:spPr>
          <a:xfrm>
            <a:off x="3063240" y="2743200"/>
            <a:ext cx="347472" cy="347472"/>
          </a:xfrm>
          <a:prstGeom prst="ellipse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3240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3630168" y="2743200"/>
            <a:ext cx="347472" cy="347472"/>
          </a:xfrm>
          <a:prstGeom prst="ellipse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2" name="Oval 21"/>
          <p:cNvSpPr/>
          <p:nvPr/>
        </p:nvSpPr>
        <p:spPr>
          <a:xfrm>
            <a:off x="4197096" y="2743200"/>
            <a:ext cx="347472" cy="347472"/>
          </a:xfrm>
          <a:prstGeom prst="ellipse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97096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2743200"/>
            <a:ext cx="347472" cy="347472"/>
          </a:xfrm>
          <a:prstGeom prst="ellipse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64024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26" name="Oval 25"/>
          <p:cNvSpPr/>
          <p:nvPr/>
        </p:nvSpPr>
        <p:spPr>
          <a:xfrm>
            <a:off x="5330952" y="2743200"/>
            <a:ext cx="347472" cy="347472"/>
          </a:xfrm>
          <a:prstGeom prst="ellipse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30952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310128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ECDDE"/>
                </a:solidFill>
                <a:latin typeface="Aptos"/>
              </a:rPr>
              <a:t>Traffic bottleneck → edge weight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88620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ABED7"/>
                </a:solidFill>
                <a:latin typeface="Aptos"/>
              </a:rPr>
              <a:t>TRADE-OFF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297680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AMB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297680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7.4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29768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2976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09D67"/>
                </a:solidFill>
                <a:latin typeface="Aptos"/>
              </a:rPr>
              <a:t>SELECTED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73659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AMB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73659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6.9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736592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BLS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736592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ECDDE"/>
                </a:solidFill>
                <a:latin typeface="Aptos"/>
              </a:rPr>
              <a:t>REJECTED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175504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AMB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5175504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9.2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175504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175504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ECDDE"/>
                </a:solidFill>
                <a:latin typeface="Aptos"/>
              </a:rPr>
              <a:t>BACKUP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1417320"/>
            <a:ext cx="406908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09560" y="1664208"/>
            <a:ext cx="3520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01B2D"/>
                </a:solidFill>
                <a:latin typeface="Aptos"/>
              </a:rPr>
              <a:t>IMPACT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2331720"/>
            <a:ext cx="3337560" cy="3931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28431" y="2350008"/>
            <a:ext cx="3282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Transparent decisions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1" y="2761487"/>
            <a:ext cx="32735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62F3E"/>
                </a:solidFill>
                <a:latin typeface="Aptos"/>
              </a:rPr>
              <a:t>Heap state, route expansion and scoring are visible.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3355848"/>
            <a:ext cx="3337560" cy="393192"/>
          </a:xfrm>
          <a:prstGeom prst="roundRect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28431" y="3374136"/>
            <a:ext cx="3282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Capability-aware dispatch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8431" y="3785615"/>
            <a:ext cx="32735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62F3E"/>
                </a:solidFill>
                <a:latin typeface="Aptos"/>
              </a:rPr>
              <a:t>Equipment compatibility is part of selection.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0" y="4379976"/>
            <a:ext cx="3337560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28431" y="4398264"/>
            <a:ext cx="3282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Faster response potential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1" y="4809744"/>
            <a:ext cx="32735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62F3E"/>
                </a:solidFill>
                <a:latin typeface="Aptos"/>
              </a:rPr>
              <a:t>Traffic-aware routing avoids distance-only choices.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6144768"/>
            <a:ext cx="10149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01B2D"/>
                </a:solidFill>
                <a:latin typeface="Aptos"/>
              </a:rPr>
              <a:t>Prototype objective: make every dispatch decision understandable and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6AEBA"/>
                </a:solidFill>
                <a:latin typeface="Aptos"/>
              </a:rP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From Prototype → City-Scale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383280" cy="2057400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2286000"/>
            <a:ext cx="566928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16352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LIVE DATA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4015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C3D2E4"/>
                </a:solidFill>
                <a:latin typeface="Aptos"/>
              </a:rPr>
              <a:t>OpenStreetMap / GPS feeds
Dynamic IoT traffic-light preemption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383280" cy="2057400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2286000"/>
            <a:ext cx="566928" cy="3931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304288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16352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PREDICTIVE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015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C3D2E4"/>
                </a:solidFill>
                <a:latin typeface="Aptos"/>
              </a:rPr>
              <a:t>ML models for historical traffic patterns
Temporal congestion forecasting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57400"/>
            <a:ext cx="3383280" cy="2057400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0" y="2286000"/>
            <a:ext cx="566928" cy="393192"/>
          </a:xfrm>
          <a:prstGeom prst="roundRect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1" y="2304288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16352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SCALABLE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4015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C3D2E4"/>
                </a:solidFill>
                <a:latin typeface="Aptos"/>
              </a:rPr>
              <a:t>PostgreSQL graph indexing
Modular Flask microservices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617720"/>
            <a:ext cx="9738360" cy="960120"/>
          </a:xfrm>
          <a:prstGeom prst="roundRect">
            <a:avLst/>
          </a:prstGeom>
          <a:solidFill>
            <a:srgbClr val="1E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480060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D8F31"/>
                </a:solidFill>
                <a:latin typeface="Aptos"/>
              </a:rPr>
              <a:t>FINAL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727448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Replace black-box guesswork with transparent, multi-criteria algorithmic dispatch.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THANK YOU  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606</Words>
  <Application>Microsoft Office PowerPoint</Application>
  <PresentationFormat>Widescreen</PresentationFormat>
  <Paragraphs>126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Bhanu Naga Navya sri Dasari</cp:lastModifiedBy>
  <cp:revision>1</cp:revision>
  <dcterms:created xsi:type="dcterms:W3CDTF">2013-01-27T09:14:16Z</dcterms:created>
  <dcterms:modified xsi:type="dcterms:W3CDTF">2026-10-03T05:23:59Z</dcterms:modified>
  <cp:category/>
</cp:coreProperties>
</file>